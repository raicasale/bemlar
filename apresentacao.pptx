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Garet" charset="1" panose="00000000000000000000"/>
      <p:regular r:id="rId9"/>
    </p:embeddedFont>
    <p:embeddedFont>
      <p:font typeface="Aileron" charset="1" panose="00000500000000000000"/>
      <p:regular r:id="rId10"/>
    </p:embeddedFont>
    <p:embeddedFont>
      <p:font typeface="Aileron Bold" charset="1" panose="000008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88434" y="-8801654"/>
            <a:ext cx="17173554" cy="17173554"/>
          </a:xfrm>
          <a:custGeom>
            <a:avLst/>
            <a:gdLst/>
            <a:ahLst/>
            <a:cxnLst/>
            <a:rect r="r" b="b" t="t" l="l"/>
            <a:pathLst>
              <a:path h="17173554" w="17173554">
                <a:moveTo>
                  <a:pt x="0" y="0"/>
                </a:moveTo>
                <a:lnTo>
                  <a:pt x="17173553" y="0"/>
                </a:lnTo>
                <a:lnTo>
                  <a:pt x="17173553" y="17173554"/>
                </a:lnTo>
                <a:lnTo>
                  <a:pt x="0" y="17173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9337533" y="1145264"/>
            <a:ext cx="0" cy="7600534"/>
          </a:xfrm>
          <a:prstGeom prst="line">
            <a:avLst/>
          </a:prstGeom>
          <a:ln cap="flat" w="19050">
            <a:solidFill>
              <a:srgbClr val="4A0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22989" y="4791075"/>
            <a:ext cx="4800231" cy="4566073"/>
          </a:xfrm>
          <a:custGeom>
            <a:avLst/>
            <a:gdLst/>
            <a:ahLst/>
            <a:cxnLst/>
            <a:rect r="r" b="b" t="t" l="l"/>
            <a:pathLst>
              <a:path h="4566073" w="4800231">
                <a:moveTo>
                  <a:pt x="0" y="0"/>
                </a:moveTo>
                <a:lnTo>
                  <a:pt x="4800231" y="0"/>
                </a:lnTo>
                <a:lnTo>
                  <a:pt x="4800231" y="4566073"/>
                </a:lnTo>
                <a:lnTo>
                  <a:pt x="0" y="4566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28575" cap="sq">
            <a:solidFill>
              <a:srgbClr val="4A0959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556608" y="2110917"/>
            <a:ext cx="8550417" cy="6747333"/>
          </a:xfrm>
          <a:custGeom>
            <a:avLst/>
            <a:gdLst/>
            <a:ahLst/>
            <a:cxnLst/>
            <a:rect r="r" b="b" t="t" l="l"/>
            <a:pathLst>
              <a:path h="6747333" w="8550417">
                <a:moveTo>
                  <a:pt x="0" y="0"/>
                </a:moveTo>
                <a:lnTo>
                  <a:pt x="8550417" y="0"/>
                </a:lnTo>
                <a:lnTo>
                  <a:pt x="8550417" y="6747333"/>
                </a:lnTo>
                <a:lnTo>
                  <a:pt x="0" y="67473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47625" cap="sq">
            <a:solidFill>
              <a:srgbClr val="4A0959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96582" y="879613"/>
            <a:ext cx="5807627" cy="84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0"/>
              </a:lnSpc>
            </a:pPr>
            <a:r>
              <a:rPr lang="en-US" sz="6000">
                <a:solidFill>
                  <a:srgbClr val="4A0959"/>
                </a:solidFill>
                <a:latin typeface="Garet"/>
                <a:ea typeface="Garet"/>
                <a:cs typeface="Garet"/>
                <a:sym typeface="Garet"/>
              </a:rPr>
              <a:t>O Problema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6582" y="1963807"/>
            <a:ext cx="8821876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Atualmente, na BemLar, para cada contrato inadimplente, o prejuízo calculado é de R$1.200, sendo que no ano passado, esse valor somou mais que a margem de duas lojas inteiras.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6582" y="3643242"/>
            <a:ext cx="9260026" cy="81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22"/>
              </a:lnSpc>
            </a:pPr>
            <a:r>
              <a:rPr lang="en-US" sz="5800">
                <a:solidFill>
                  <a:srgbClr val="4A0959"/>
                </a:solidFill>
                <a:latin typeface="Garet"/>
                <a:ea typeface="Garet"/>
                <a:cs typeface="Garet"/>
                <a:sym typeface="Garet"/>
              </a:rPr>
              <a:t>O que é Inadimplência?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582" y="4724400"/>
            <a:ext cx="3631120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Inadimplência, nesse contexto, se trata de todos os pagamentos de parcelas que chegam a 30 dias de atraso, e como dito anteriormente, causam prejuízo.</a:t>
            </a: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Felizmente, ao ligar para clientes de “risco” antes do vencimento do contrato, a maioria paga.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82433" y="879613"/>
            <a:ext cx="7576867" cy="84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0"/>
              </a:lnSpc>
            </a:pPr>
            <a:r>
              <a:rPr lang="en-US" sz="6000">
                <a:solidFill>
                  <a:srgbClr val="4A0959"/>
                </a:solidFill>
                <a:latin typeface="Garet"/>
                <a:ea typeface="Garet"/>
                <a:cs typeface="Garet"/>
                <a:sym typeface="Garet"/>
              </a:rPr>
              <a:t>Pedidos Revisados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88434" y="-8801654"/>
            <a:ext cx="17173554" cy="17173554"/>
          </a:xfrm>
          <a:custGeom>
            <a:avLst/>
            <a:gdLst/>
            <a:ahLst/>
            <a:cxnLst/>
            <a:rect r="r" b="b" t="t" l="l"/>
            <a:pathLst>
              <a:path h="17173554" w="17173554">
                <a:moveTo>
                  <a:pt x="0" y="0"/>
                </a:moveTo>
                <a:lnTo>
                  <a:pt x="17173553" y="0"/>
                </a:lnTo>
                <a:lnTo>
                  <a:pt x="17173553" y="17173554"/>
                </a:lnTo>
                <a:lnTo>
                  <a:pt x="0" y="17173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4593" y="721349"/>
            <a:ext cx="8157851" cy="1674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0"/>
              </a:lnSpc>
            </a:pPr>
            <a:r>
              <a:rPr lang="en-US" sz="6000">
                <a:solidFill>
                  <a:srgbClr val="4A0959"/>
                </a:solidFill>
                <a:latin typeface="Garet"/>
                <a:ea typeface="Garet"/>
                <a:cs typeface="Garet"/>
                <a:sym typeface="Garet"/>
              </a:rPr>
              <a:t>Perfil do Contrato de Risco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8531969" y="1028700"/>
            <a:ext cx="0" cy="5807353"/>
          </a:xfrm>
          <a:prstGeom prst="line">
            <a:avLst/>
          </a:prstGeom>
          <a:ln cap="flat" w="19050">
            <a:solidFill>
              <a:srgbClr val="4A0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1010422"/>
            <a:ext cx="8645919" cy="4133078"/>
          </a:xfrm>
          <a:custGeom>
            <a:avLst/>
            <a:gdLst/>
            <a:ahLst/>
            <a:cxnLst/>
            <a:rect r="r" b="b" t="t" l="l"/>
            <a:pathLst>
              <a:path h="4133078" w="8645919">
                <a:moveTo>
                  <a:pt x="0" y="0"/>
                </a:moveTo>
                <a:lnTo>
                  <a:pt x="8645919" y="0"/>
                </a:lnTo>
                <a:lnTo>
                  <a:pt x="8645919" y="4133078"/>
                </a:lnTo>
                <a:lnTo>
                  <a:pt x="0" y="41330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28575" cap="sq">
            <a:solidFill>
              <a:srgbClr val="4A0959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64593" y="2703706"/>
            <a:ext cx="7968200" cy="570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2" indent="-215901" lvl="1">
              <a:lnSpc>
                <a:spcPts val="3000"/>
              </a:lnSpc>
              <a:buAutoNum type="arabicPeriod" startAt="1"/>
            </a:pPr>
            <a:r>
              <a:rPr lang="en-US" b="true" sz="2000">
                <a:solidFill>
                  <a:srgbClr val="4A0959"/>
                </a:solidFill>
                <a:latin typeface="Aileron Bold"/>
                <a:ea typeface="Aileron Bold"/>
                <a:cs typeface="Aileron Bold"/>
                <a:sym typeface="Aileron Bold"/>
              </a:rPr>
              <a:t> Média de dias de atraso (31,1% — sinal nº 1)</a:t>
            </a: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 O cliente que costuma atrasar apenas 1 a 4 dias está vivendo fricção de vencimento ou fluxo de caixa, e segue pagando. Quem chega a uma média histórica de até 15 dias de atraso é visto com probabilidade desproporcional de romper o límite de 30 dias na parcela seguinte;</a:t>
            </a:r>
          </a:p>
          <a:p>
            <a:pPr algn="just">
              <a:lnSpc>
                <a:spcPts val="3000"/>
              </a:lnSpc>
            </a:pPr>
          </a:p>
          <a:p>
            <a:pPr algn="just" marL="431802" indent="-215901" lvl="1">
              <a:lnSpc>
                <a:spcPts val="3000"/>
              </a:lnSpc>
              <a:buAutoNum type="arabicPeriod" startAt="1"/>
            </a:pPr>
            <a:r>
              <a:rPr lang="en-US" b="true" sz="2000">
                <a:solidFill>
                  <a:srgbClr val="4A0959"/>
                </a:solidFill>
                <a:latin typeface="Aileron Bold"/>
                <a:ea typeface="Aileron Bold"/>
                <a:cs typeface="Aileron Bold"/>
                <a:sym typeface="Aileron Bold"/>
              </a:rPr>
              <a:t> Taxa de parcelas atrasadas (20,5% — sinal nº 2)</a:t>
            </a: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Não importa só quanto atrasa, mas com que frequência. Mede se o atraso é um evento isolado ou um hábito. 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Juntos, os dois sinais concentram 51,6% de todo o poder preditivo do modelo: o perfil de risco é, antes de tudo, um perfil de pagamento, não um perfil demográfico.</a:t>
            </a:r>
          </a:p>
          <a:p>
            <a:pPr algn="just">
              <a:lnSpc>
                <a:spcPts val="30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926221" y="5548782"/>
            <a:ext cx="9081477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 b="true">
                <a:solidFill>
                  <a:srgbClr val="4A0959"/>
                </a:solidFill>
                <a:latin typeface="Aileron Bold"/>
                <a:ea typeface="Aileron Bold"/>
                <a:cs typeface="Aileron Bold"/>
                <a:sym typeface="Aileron Bold"/>
              </a:rPr>
              <a:t>Achado negativo (1,35%)</a:t>
            </a: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Vincular chamados do SAC à cobrança não é eficaz. Testamos a hipótese clássica de que o cliente que registra chamados no SAC (insatisfeito com a entrega ou o produto) deixa de pagar e acaba tendo o título protestado. Os dados não confirmam essa hipótese: a vinculação ocorre por motivos operacionais (como emissão de segunda via de boleto ou rastreamento) e não indica deterioração financeira. 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Com essas informações, é possível constatar que cruzar chamados do SAC com o fluxo de cobrança, uma mobilização de atendentes que não traria resultados.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88434" y="-8801654"/>
            <a:ext cx="17173554" cy="17173554"/>
          </a:xfrm>
          <a:custGeom>
            <a:avLst/>
            <a:gdLst/>
            <a:ahLst/>
            <a:cxnLst/>
            <a:rect r="r" b="b" t="t" l="l"/>
            <a:pathLst>
              <a:path h="17173554" w="17173554">
                <a:moveTo>
                  <a:pt x="0" y="0"/>
                </a:moveTo>
                <a:lnTo>
                  <a:pt x="17173553" y="0"/>
                </a:lnTo>
                <a:lnTo>
                  <a:pt x="17173553" y="17173554"/>
                </a:lnTo>
                <a:lnTo>
                  <a:pt x="0" y="17173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6582" y="879613"/>
            <a:ext cx="11709927" cy="84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0"/>
              </a:lnSpc>
            </a:pPr>
            <a:r>
              <a:rPr lang="en-US" sz="6000">
                <a:solidFill>
                  <a:srgbClr val="4A0959"/>
                </a:solidFill>
                <a:latin typeface="Garet"/>
                <a:ea typeface="Garet"/>
                <a:cs typeface="Garet"/>
                <a:sym typeface="Garet"/>
              </a:rPr>
              <a:t>O Piloto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7923313" y="812938"/>
            <a:ext cx="0" cy="5807353"/>
          </a:xfrm>
          <a:prstGeom prst="line">
            <a:avLst/>
          </a:prstGeom>
          <a:ln cap="flat" w="19050">
            <a:solidFill>
              <a:srgbClr val="4A0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85498" y="6828422"/>
            <a:ext cx="6828291" cy="3228190"/>
          </a:xfrm>
          <a:custGeom>
            <a:avLst/>
            <a:gdLst/>
            <a:ahLst/>
            <a:cxnLst/>
            <a:rect r="r" b="b" t="t" l="l"/>
            <a:pathLst>
              <a:path h="3228190" w="6828291">
                <a:moveTo>
                  <a:pt x="0" y="0"/>
                </a:moveTo>
                <a:lnTo>
                  <a:pt x="6828291" y="0"/>
                </a:lnTo>
                <a:lnTo>
                  <a:pt x="6828291" y="3228190"/>
                </a:lnTo>
                <a:lnTo>
                  <a:pt x="0" y="32281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28575" cap="sq">
            <a:solidFill>
              <a:srgbClr val="4A0959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96582" y="1874527"/>
            <a:ext cx="763625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Após o desenvolvimento do modelo, pudemos fazer as seguintes análises: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6582" y="2779401"/>
            <a:ext cx="7370110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4A0959"/>
                </a:solidFill>
                <a:latin typeface="Aileron Bold"/>
                <a:ea typeface="Aileron Bold"/>
                <a:cs typeface="Aileron Bold"/>
                <a:sym typeface="Aileron Bold"/>
              </a:rPr>
              <a:t>Avaliação:</a:t>
            </a:r>
          </a:p>
          <a:p>
            <a:pPr algn="l" marL="431802" indent="-215901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Precision para 80 chamadas = 76,25% das 80 ligações, 61 são para clientes que realmente iriam atrasar mais de 30 dias;</a:t>
            </a:r>
          </a:p>
          <a:p>
            <a:pPr algn="l" marL="431802" indent="-215901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Em comparação com a fila por maior valor de contrato (51,25%, 41 acertos), a intuição clássica de "ligar para quem deve mais", o piloto ganha +25 pontos percentuais;</a:t>
            </a:r>
          </a:p>
          <a:p>
            <a:pPr algn="l" marL="431802" indent="-215901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Recall baixo (≈19%): alcançamos apenas 61 dos 315 inadimplentes da carteira de teste. Vale lembrar que essa é uma decisão de capacidade, não uma limitação do modelo: há apenas 80 ligações por semana.</a:t>
            </a: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290122" y="741045"/>
            <a:ext cx="9464904" cy="456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 b="true">
                <a:solidFill>
                  <a:srgbClr val="4A0959"/>
                </a:solidFill>
                <a:latin typeface="Aileron Bold"/>
                <a:ea typeface="Aileron Bold"/>
                <a:cs typeface="Aileron Bold"/>
                <a:sym typeface="Aileron Bold"/>
              </a:rPr>
              <a:t>FP e FN traduzidos em reais:</a:t>
            </a:r>
          </a:p>
          <a:p>
            <a:pPr algn="just" marL="431802" indent="-215901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Falsos positivos (FP): apenas 19 ligações semanais são desperdiçadas com clientes que teriam pago por conta própria (23,75%). A fila por valor desperdiçava 39, reduzimos pela metade o esforço inútil da operação;</a:t>
            </a:r>
          </a:p>
          <a:p>
            <a:pPr algn="just" marL="431802" indent="-215901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Falsos negativos (FN): os 254 inadimplentes que não cabem na fila representam um prejuízo não interceptado de ~R$ 304,800/semana. Não é uma falha do piloto, mas a consequência física da capacidade da equipe de cobrança: para cobri-los, seriam necessárias cerca de 4 vezes mais pessoas;</a:t>
            </a:r>
          </a:p>
          <a:p>
            <a:pPr algn="just" marL="431802" indent="-215901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Resultado líquido: R$ 73,200 de prejuízo evitado por semana, contra R$ 49,200 da fila anterior → +R$ 24,000 por semana de proteção adicional (mais de R$ 100 mil por mês).</a:t>
            </a:r>
          </a:p>
          <a:p>
            <a:pPr algn="just">
              <a:lnSpc>
                <a:spcPts val="30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290122" y="6415879"/>
            <a:ext cx="9464904" cy="341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O piloto funciona e melhora a situação que se tem hoje, porém, antes de ligá-lo, seria necessário:</a:t>
            </a:r>
          </a:p>
          <a:p>
            <a:pPr algn="just" marL="431802" indent="-215901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Retreinamento e monitoramento contínuo do modelo para estabilizar a precisão em contratos recentes (aqui já observamos sensibilidade à maturação da safra);</a:t>
            </a:r>
          </a:p>
          <a:p>
            <a:pPr algn="just" marL="431802" indent="-215901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Vincular o `id_contrato` aos registros do SAC para, em uma próxima versão, incorporar os motivos de atraso (NLP) e ganhar *recall* sem perder precisão;</a:t>
            </a:r>
          </a:p>
          <a:p>
            <a:pPr algn="just" marL="431802" indent="-215901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4A0959"/>
                </a:solidFill>
                <a:latin typeface="Aileron"/>
                <a:ea typeface="Aileron"/>
                <a:cs typeface="Aileron"/>
                <a:sym typeface="Aileron"/>
              </a:rPr>
              <a:t>Uma validação piloto em produção (medir, a cada chamada, se as renegociações se concretizam) antes de escalar o volume de chamadas.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90122" y="5370195"/>
            <a:ext cx="11709927" cy="84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0"/>
              </a:lnSpc>
            </a:pPr>
            <a:r>
              <a:rPr lang="en-US" sz="6000">
                <a:solidFill>
                  <a:srgbClr val="4A0959"/>
                </a:solidFill>
                <a:latin typeface="Garet"/>
                <a:ea typeface="Garet"/>
                <a:cs typeface="Garet"/>
                <a:sym typeface="Garet"/>
              </a:rPr>
              <a:t>Conclusão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DAHUe3fH0fQ</dc:identifier>
  <dcterms:modified xsi:type="dcterms:W3CDTF">2011-08-01T06:04:30Z</dcterms:modified>
  <cp:revision>1</cp:revision>
  <dc:title>apresentacao</dc:title>
</cp:coreProperties>
</file>